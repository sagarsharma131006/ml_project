
<file path=[Content_Types].xml><?xml version="1.0" encoding="utf-8"?>
<Types xmlns="http://schemas.openxmlformats.org/package/2006/content-types">
  <Default Extension="1"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5" r:id="rId6"/>
    <p:sldId id="281" r:id="rId7"/>
    <p:sldId id="262" r:id="rId8"/>
    <p:sldId id="264" r:id="rId9"/>
    <p:sldId id="278"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77" d="100"/>
          <a:sy n="77" d="100"/>
        </p:scale>
        <p:origin x="7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Sagarsharma131006@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1"/><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hyperlink" Target="https://www.rawpixel.com/search/evolution"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1"/><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hyperlink" Target="https://www.rawpixel.com/image/403626/free-illustration-image-compass-cartoon-way"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technofaq.org/posts/2020/06/ai-and-trust-ai-transparency-conflicts-with-privacy-right/"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hyperlink" Target="https://creativecommons.org/licenses/by-nc/3.0/" TargetMode="External"/><Relationship Id="rId4" Type="http://schemas.openxmlformats.org/officeDocument/2006/relationships/hyperlink" Target="https://freepngimg.com/png/12286-github-transparent"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creativecommons.org/licenses/by-nc/3.0/"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freepngimg.com/png/85354-text-question-blog-questions-logo-any" TargetMode="External"/><Relationship Id="rId5" Type="http://schemas.openxmlformats.org/officeDocument/2006/relationships/image" Target="../media/image8.png"/><Relationship Id="rId4" Type="http://schemas.openxmlformats.org/officeDocument/2006/relationships/hyperlink" Target="https://pixabay.com/en/thank-you-polaroid-letters-249055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 Exploring the Power of Agentic AI with IBM Granite and </a:t>
            </a:r>
            <a:r>
              <a:rPr lang="en-US" b="1" i="1" dirty="0" err="1"/>
              <a:t>LangFlow</a:t>
            </a:r>
            <a:r>
              <a:rPr lang="en-US" b="1" i="1" dirty="0"/>
              <a:t> ”</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279984089"/>
              </p:ext>
            </p:extLst>
          </p:nvPr>
        </p:nvGraphicFramePr>
        <p:xfrm>
          <a:off x="1299257" y="2644877"/>
          <a:ext cx="9398239" cy="3038484"/>
        </p:xfrm>
        <a:graphic>
          <a:graphicData uri="http://schemas.openxmlformats.org/drawingml/2006/table">
            <a:tbl>
              <a:tblPr>
                <a:noFill/>
                <a:tableStyleId>{0AAD8F4D-43EB-41E5-8A38-28AB6DFB1B60}</a:tableStyleId>
              </a:tblPr>
              <a:tblGrid>
                <a:gridCol w="2065582">
                  <a:extLst>
                    <a:ext uri="{9D8B030D-6E8A-4147-A177-3AD203B41FA5}">
                      <a16:colId xmlns:a16="http://schemas.microsoft.com/office/drawing/2014/main" val="20000"/>
                    </a:ext>
                  </a:extLst>
                </a:gridCol>
                <a:gridCol w="2444219">
                  <a:extLst>
                    <a:ext uri="{9D8B030D-6E8A-4147-A177-3AD203B41FA5}">
                      <a16:colId xmlns:a16="http://schemas.microsoft.com/office/drawing/2014/main" val="20002"/>
                    </a:ext>
                  </a:extLst>
                </a:gridCol>
                <a:gridCol w="2444219">
                  <a:extLst>
                    <a:ext uri="{9D8B030D-6E8A-4147-A177-3AD203B41FA5}">
                      <a16:colId xmlns:a16="http://schemas.microsoft.com/office/drawing/2014/main" val="20003"/>
                    </a:ext>
                  </a:extLst>
                </a:gridCol>
                <a:gridCol w="2444219">
                  <a:extLst>
                    <a:ext uri="{9D8B030D-6E8A-4147-A177-3AD203B41FA5}">
                      <a16:colId xmlns:a16="http://schemas.microsoft.com/office/drawing/2014/main" val="20004"/>
                    </a:ext>
                  </a:extLst>
                </a:gridCol>
              </a:tblGrid>
              <a:tr h="1364555">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673929">
                <a:tc>
                  <a:txBody>
                    <a:bodyPr/>
                    <a:lstStyle/>
                    <a:p>
                      <a:pPr marL="0" marR="0" lvl="0" indent="0" algn="l" rtl="0">
                        <a:spcBef>
                          <a:spcPts val="0"/>
                        </a:spcBef>
                        <a:spcAft>
                          <a:spcPts val="0"/>
                        </a:spcAft>
                        <a:buNone/>
                      </a:pPr>
                      <a:r>
                        <a:rPr lang="en-US" dirty="0"/>
                        <a:t>       </a:t>
                      </a:r>
                    </a:p>
                    <a:p>
                      <a:pPr marL="0" marR="0" lvl="0" indent="0" algn="l" rtl="0">
                        <a:spcBef>
                          <a:spcPts val="0"/>
                        </a:spcBef>
                        <a:spcAft>
                          <a:spcPts val="0"/>
                        </a:spcAft>
                        <a:buNone/>
                      </a:pPr>
                      <a:r>
                        <a:rPr lang="en-US" dirty="0"/>
                        <a:t>   </a:t>
                      </a:r>
                    </a:p>
                    <a:p>
                      <a:pPr marL="0" marR="0" lvl="0" indent="0" algn="l" rtl="0">
                        <a:spcBef>
                          <a:spcPts val="0"/>
                        </a:spcBef>
                        <a:spcAft>
                          <a:spcPts val="0"/>
                        </a:spcAft>
                        <a:buNone/>
                      </a:pPr>
                      <a:r>
                        <a:rPr lang="en-US" dirty="0"/>
                        <a:t>     SAGAR SHARMA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  </a:t>
                      </a:r>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sz="1150" baseline="0" dirty="0">
                          <a:hlinkClick r:id="rId3"/>
                        </a:rPr>
                        <a:t>Sagarsharma131006</a:t>
                      </a:r>
                      <a:r>
                        <a:rPr lang="en-US" dirty="0">
                          <a:hlinkClick r:id="rId3"/>
                        </a:rPr>
                        <a:t>@</a:t>
                      </a:r>
                      <a:r>
                        <a:rPr lang="en-US" sz="1200" baseline="0" dirty="0">
                          <a:hlinkClick r:id="rId3"/>
                        </a:rPr>
                        <a:t>gmail</a:t>
                      </a:r>
                      <a:r>
                        <a:rPr lang="en-US" dirty="0">
                          <a:hlinkClick r:id="rId3"/>
                        </a:rPr>
                        <a:t>.</a:t>
                      </a:r>
                      <a:r>
                        <a:rPr lang="en-US" sz="1200" baseline="0" dirty="0">
                          <a:hlinkClick r:id="rId3"/>
                        </a:rPr>
                        <a:t>com</a:t>
                      </a:r>
                      <a:endParaRPr sz="1200" baseline="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US" dirty="0"/>
                    </a:p>
                    <a:p>
                      <a:pPr marL="0" marR="0" lvl="0" indent="0" algn="l" rtl="0">
                        <a:spcBef>
                          <a:spcPts val="0"/>
                        </a:spcBef>
                        <a:spcAft>
                          <a:spcPts val="0"/>
                        </a:spcAft>
                        <a:buNone/>
                      </a:pPr>
                      <a:r>
                        <a:rPr lang="en-US" dirty="0"/>
                        <a:t>         +91-9812559948</a:t>
                      </a: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4">
            <a:alphaModFix/>
          </a:blip>
          <a:srcRect/>
          <a:stretch/>
        </p:blipFill>
        <p:spPr>
          <a:xfrm>
            <a:off x="3362632" y="4011561"/>
            <a:ext cx="2448233" cy="1671800"/>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523220"/>
          </a:xfrm>
          <a:prstGeom prst="rect">
            <a:avLst/>
          </a:prstGeom>
          <a:noFill/>
        </p:spPr>
        <p:txBody>
          <a:bodyPr wrap="square" rtlCol="0">
            <a:spAutoFit/>
          </a:bodyPr>
          <a:lstStyle/>
          <a:p>
            <a:r>
              <a:rPr lang="en-US" sz="2800" b="1" dirty="0"/>
              <a:t>Domain of  Project –  </a:t>
            </a:r>
            <a:r>
              <a:rPr lang="en-US" sz="2400" b="1" dirty="0"/>
              <a:t>( Industrial  &amp;  Study )</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647575"/>
            <a:ext cx="9581177" cy="523220"/>
          </a:xfrm>
          <a:prstGeom prst="rect">
            <a:avLst/>
          </a:prstGeom>
          <a:noFill/>
        </p:spPr>
        <p:txBody>
          <a:bodyPr wrap="square" rtlCol="0">
            <a:spAutoFit/>
          </a:bodyPr>
          <a:lstStyle/>
          <a:p>
            <a:r>
              <a:rPr lang="en-US" sz="2800" b="1" dirty="0"/>
              <a:t>Project Title – </a:t>
            </a:r>
            <a:r>
              <a:rPr lang="en-US" sz="2400" b="1" dirty="0"/>
              <a:t>Predictive Maintenance of Industrial Machinery</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262979"/>
          </a:xfrm>
          <a:prstGeom prst="rect">
            <a:avLst/>
          </a:prstGeom>
          <a:noFill/>
        </p:spPr>
        <p:txBody>
          <a:bodyPr wrap="square" rtlCol="0">
            <a:spAutoFit/>
          </a:bodyPr>
          <a:lstStyle/>
          <a:p>
            <a:pPr fontAlgn="base"/>
            <a:r>
              <a:rPr lang="en-US" b="1" dirty="0"/>
              <a:t>Problem Statement : Predictive Maintenance of Industrial Machinery</a:t>
            </a:r>
            <a:r>
              <a:rPr lang="en-US" dirty="0"/>
              <a:t> </a:t>
            </a:r>
          </a:p>
          <a:p>
            <a:pPr fontAlgn="base"/>
            <a:endParaRPr lang="en-US" b="1" dirty="0"/>
          </a:p>
          <a:p>
            <a:pPr fontAlgn="base"/>
            <a:r>
              <a:rPr lang="en-US" b="1" dirty="0"/>
              <a:t>The Challenge</a:t>
            </a:r>
            <a:r>
              <a:rPr lang="en-US" dirty="0"/>
              <a:t> :</a:t>
            </a:r>
          </a:p>
          <a:p>
            <a:pPr fontAlgn="base"/>
            <a:r>
              <a:rPr lang="en-US" dirty="0"/>
              <a:t>Develop a predictive maintenance model for a fleet of industrial machines to anticipate failures before they occur. This project will involve analyzing sensor data from machinery to identify patterns that precede a failure. The goal is to create a classification model that can predict the type of failure </a:t>
            </a:r>
            <a:r>
              <a:rPr lang="en-US" b="1" dirty="0"/>
              <a:t>(e.g., tool wear, heat dissipation, power failure) </a:t>
            </a:r>
            <a:r>
              <a:rPr lang="en-US" dirty="0"/>
              <a:t>based on real-time operational data. This will enable proactive maintenance, reducing downtime and operational costs.</a:t>
            </a:r>
          </a:p>
          <a:p>
            <a:pPr fontAlgn="base"/>
            <a:endParaRPr lang="en-US" dirty="0"/>
          </a:p>
          <a:p>
            <a:pPr fontAlgn="base"/>
            <a:r>
              <a:rPr lang="en-US" b="1" dirty="0"/>
              <a:t>The Objective</a:t>
            </a:r>
            <a:r>
              <a:rPr lang="en-US" dirty="0"/>
              <a:t> :</a:t>
            </a:r>
          </a:p>
          <a:p>
            <a:pPr fontAlgn="base"/>
            <a:r>
              <a:rPr lang="en-US" dirty="0"/>
              <a:t>To design and implement a machine learning model that can predict machine failures before they occur using historical and real-time sensor data.</a:t>
            </a:r>
          </a:p>
          <a:p>
            <a:pPr fontAlgn="base"/>
            <a:endParaRPr lang="en-US" dirty="0"/>
          </a:p>
          <a:p>
            <a:pPr fontAlgn="base"/>
            <a:r>
              <a:rPr lang="en-US" b="1" dirty="0"/>
              <a:t>Analyze Industrial Sensor Data - </a:t>
            </a:r>
            <a:r>
              <a:rPr lang="en-US" dirty="0"/>
              <a:t>To study and process machine operational parameters such as temperature, rotational speed,    </a:t>
            </a:r>
          </a:p>
          <a:p>
            <a:pPr fontAlgn="base"/>
            <a:r>
              <a:rPr lang="en-US" dirty="0"/>
              <a:t>                                                         torque, and tool wear to identify patterns associated with equipment failures.</a:t>
            </a:r>
          </a:p>
          <a:p>
            <a:pPr fontAlgn="base"/>
            <a:r>
              <a:rPr lang="en-US" b="1" dirty="0"/>
              <a:t>Classify Different Failure Types - </a:t>
            </a:r>
            <a:r>
              <a:rPr lang="en-US" dirty="0"/>
              <a:t>To accurately identify and classify various failure categories including Tool Wear Failure, Heat       </a:t>
            </a:r>
          </a:p>
          <a:p>
            <a:pPr fontAlgn="base"/>
            <a:r>
              <a:rPr lang="en-US" dirty="0"/>
              <a:t>                                                         Dissipation Failure, Power Failure, Overstrain Failure, and Random Failures.</a:t>
            </a:r>
          </a:p>
          <a:p>
            <a:pPr fontAlgn="base"/>
            <a:r>
              <a:rPr lang="en-US" b="1" dirty="0"/>
              <a:t>Enable Proactive Maintenance -  </a:t>
            </a:r>
            <a:r>
              <a:rPr lang="en-US" dirty="0"/>
              <a:t>To provide early warnings of potential failures, allowing maintenance teams to take preventive                                   </a:t>
            </a:r>
          </a:p>
          <a:p>
            <a:pPr fontAlgn="base"/>
            <a:r>
              <a:rPr lang="en-US" dirty="0"/>
              <a:t>                                                         actions before machine breakdowns occur.</a:t>
            </a:r>
          </a:p>
          <a:p>
            <a:pPr fontAlgn="base"/>
            <a:r>
              <a:rPr lang="en-US" b="1" dirty="0"/>
              <a:t>Reduce Equipment Downtime -   </a:t>
            </a:r>
            <a:r>
              <a:rPr lang="en-US" dirty="0"/>
              <a:t>To minimize unplanned shutdowns and production interruptions by predicting failures in advance </a:t>
            </a:r>
          </a:p>
          <a:p>
            <a:pPr fontAlgn="base"/>
            <a:r>
              <a:rPr lang="en-US" dirty="0"/>
              <a:t>                                                         and scheduling maintenance effectively.</a:t>
            </a:r>
            <a:endParaRPr lang="en-US" b="1" dirty="0"/>
          </a:p>
          <a:p>
            <a:r>
              <a:rPr lang="en-US" b="1" dirty="0"/>
              <a:t>Improve Operational Efficiency -  </a:t>
            </a:r>
            <a:r>
              <a:rPr lang="en-US" dirty="0"/>
              <a:t>To enhance machine performance, productivity, and resource utilization through data-driven      </a:t>
            </a:r>
          </a:p>
          <a:p>
            <a:r>
              <a:rPr lang="en-US" dirty="0"/>
              <a:t>                                                          maintenance decisions.</a:t>
            </a:r>
          </a:p>
          <a:p>
            <a:r>
              <a:rPr lang="en-US" b="1" dirty="0"/>
              <a:t>Optimize Maintenance Costs -   </a:t>
            </a:r>
            <a:r>
              <a:rPr lang="en-US" dirty="0"/>
              <a:t>To reduce unnecessary maintenance activities and repair expenses by performing maintenance </a:t>
            </a:r>
          </a:p>
          <a:p>
            <a:r>
              <a:rPr lang="en-US" dirty="0"/>
              <a:t>                                                        only when required.</a:t>
            </a:r>
            <a:endParaRPr lang="en-IN" b="1" dirty="0"/>
          </a:p>
        </p:txBody>
      </p:sp>
      <p:sp>
        <p:nvSpPr>
          <p:cNvPr id="3" name="TextBox 2">
            <a:extLst>
              <a:ext uri="{FF2B5EF4-FFF2-40B4-BE49-F238E27FC236}">
                <a16:creationId xmlns:a16="http://schemas.microsoft.com/office/drawing/2014/main" id="{3847FA31-EA47-D27A-9D69-AF50A3080AEC}"/>
              </a:ext>
            </a:extLst>
          </p:cNvPr>
          <p:cNvSpPr txBox="1"/>
          <p:nvPr/>
        </p:nvSpPr>
        <p:spPr>
          <a:xfrm>
            <a:off x="743221" y="526554"/>
            <a:ext cx="10439891" cy="707886"/>
          </a:xfrm>
          <a:prstGeom prst="rect">
            <a:avLst/>
          </a:prstGeom>
          <a:noFill/>
        </p:spPr>
        <p:txBody>
          <a:bodyPr wrap="square" rtlCol="0">
            <a:spAutoFit/>
          </a:bodyPr>
          <a:lstStyle/>
          <a:p>
            <a:pPr algn="ctr"/>
            <a:r>
              <a:rPr lang="en-US" sz="4000" b="1" dirty="0">
                <a:solidFill>
                  <a:schemeClr val="accent5">
                    <a:lumMod val="75000"/>
                  </a:schemeClr>
                </a:solidFill>
              </a:rPr>
              <a:t>Problem Statement -</a:t>
            </a:r>
            <a:endParaRPr lang="en-IN" sz="4000" b="1" dirty="0">
              <a:solidFill>
                <a:schemeClr val="accent5">
                  <a:lumMod val="75000"/>
                </a:schemeClr>
              </a:solidFill>
            </a:endParaRPr>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792480" y="1288863"/>
            <a:ext cx="10607040" cy="5940088"/>
          </a:xfrm>
          <a:prstGeom prst="rect">
            <a:avLst/>
          </a:prstGeom>
          <a:noFill/>
        </p:spPr>
        <p:txBody>
          <a:bodyPr wrap="square" rtlCol="0">
            <a:spAutoFit/>
          </a:bodyPr>
          <a:lstStyle/>
          <a:p>
            <a:endParaRPr lang="en-US" sz="2000" b="1" dirty="0"/>
          </a:p>
          <a:p>
            <a:r>
              <a:rPr lang="en-US" sz="2000" b="1" dirty="0"/>
              <a:t>Tech Stack :</a:t>
            </a:r>
          </a:p>
          <a:p>
            <a:r>
              <a:rPr lang="en-US" sz="1600" b="1" dirty="0">
                <a:latin typeface="+mn-lt"/>
              </a:rPr>
              <a:t>1) </a:t>
            </a:r>
            <a:r>
              <a:rPr lang="en-US" sz="1600" i="1" dirty="0">
                <a:latin typeface="+mn-lt"/>
              </a:rPr>
              <a:t>IBM Watsonx.ai </a:t>
            </a:r>
            <a:r>
              <a:rPr lang="en-US" sz="1600" i="1" dirty="0" err="1">
                <a:latin typeface="+mn-lt"/>
              </a:rPr>
              <a:t>AutoAI</a:t>
            </a:r>
            <a:r>
              <a:rPr lang="en-US" sz="1600" i="1" dirty="0">
                <a:latin typeface="+mn-lt"/>
              </a:rPr>
              <a:t> </a:t>
            </a:r>
          </a:p>
          <a:p>
            <a:r>
              <a:rPr lang="en-US" sz="1600" b="1" dirty="0">
                <a:latin typeface="+mn-lt"/>
              </a:rPr>
              <a:t>2) </a:t>
            </a:r>
            <a:r>
              <a:rPr lang="en-US" sz="1600" i="1" dirty="0">
                <a:latin typeface="+mn-lt"/>
              </a:rPr>
              <a:t>IBM Cloud </a:t>
            </a:r>
          </a:p>
          <a:p>
            <a:r>
              <a:rPr lang="en-US" sz="1600" b="1" dirty="0">
                <a:latin typeface="+mn-lt"/>
              </a:rPr>
              <a:t>3) </a:t>
            </a:r>
            <a:r>
              <a:rPr lang="en-US" sz="1600" i="1" dirty="0">
                <a:latin typeface="+mn-lt"/>
              </a:rPr>
              <a:t>Python </a:t>
            </a:r>
          </a:p>
          <a:p>
            <a:r>
              <a:rPr lang="en-US" sz="1600" b="1" dirty="0">
                <a:latin typeface="+mn-lt"/>
              </a:rPr>
              <a:t>4) </a:t>
            </a:r>
            <a:r>
              <a:rPr lang="en-US" sz="1600" i="1" dirty="0">
                <a:latin typeface="+mn-lt"/>
              </a:rPr>
              <a:t>Scikit-learn </a:t>
            </a:r>
          </a:p>
          <a:p>
            <a:r>
              <a:rPr lang="en-US" sz="1600" b="1" dirty="0">
                <a:latin typeface="+mn-lt"/>
              </a:rPr>
              <a:t>5) </a:t>
            </a:r>
            <a:r>
              <a:rPr lang="en-US" sz="1600" i="1" dirty="0" err="1">
                <a:latin typeface="+mn-lt"/>
              </a:rPr>
              <a:t>XGBoost</a:t>
            </a:r>
            <a:r>
              <a:rPr lang="en-US" sz="1600" i="1" dirty="0">
                <a:latin typeface="+mn-lt"/>
              </a:rPr>
              <a:t> </a:t>
            </a:r>
          </a:p>
          <a:p>
            <a:r>
              <a:rPr lang="en-US" sz="1600" b="1" dirty="0">
                <a:latin typeface="+mn-lt"/>
              </a:rPr>
              <a:t>6) </a:t>
            </a:r>
            <a:r>
              <a:rPr lang="en-US" sz="1600" i="1" dirty="0" err="1">
                <a:latin typeface="+mn-lt"/>
              </a:rPr>
              <a:t>LightGBM</a:t>
            </a:r>
            <a:r>
              <a:rPr lang="en-US" sz="1600" i="1" dirty="0">
                <a:latin typeface="+mn-lt"/>
              </a:rPr>
              <a:t> </a:t>
            </a:r>
          </a:p>
          <a:p>
            <a:r>
              <a:rPr lang="en-US" sz="1600" b="1" dirty="0">
                <a:latin typeface="+mn-lt"/>
              </a:rPr>
              <a:t>7) </a:t>
            </a:r>
            <a:r>
              <a:rPr lang="en-US" sz="1600" i="1" dirty="0">
                <a:latin typeface="+mn-lt"/>
              </a:rPr>
              <a:t>Snap ML </a:t>
            </a:r>
          </a:p>
          <a:p>
            <a:r>
              <a:rPr lang="en-US" sz="1600" b="1" dirty="0">
                <a:latin typeface="+mn-lt"/>
              </a:rPr>
              <a:t>8) </a:t>
            </a:r>
            <a:r>
              <a:rPr lang="en-US" sz="1600" i="1" dirty="0">
                <a:latin typeface="+mn-lt"/>
              </a:rPr>
              <a:t>Lale </a:t>
            </a:r>
          </a:p>
          <a:p>
            <a:r>
              <a:rPr lang="en-US" sz="1600" b="1" dirty="0">
                <a:latin typeface="+mn-lt"/>
              </a:rPr>
              <a:t>9) </a:t>
            </a:r>
            <a:r>
              <a:rPr lang="en-US" sz="1600" i="1" dirty="0" err="1">
                <a:latin typeface="+mn-lt"/>
              </a:rPr>
              <a:t>Jupyter</a:t>
            </a:r>
            <a:r>
              <a:rPr lang="en-US" sz="1600" i="1" dirty="0">
                <a:latin typeface="+mn-lt"/>
              </a:rPr>
              <a:t> Notebook</a:t>
            </a:r>
          </a:p>
          <a:p>
            <a:pPr fontAlgn="base"/>
            <a:endParaRPr lang="en-IN" dirty="0"/>
          </a:p>
          <a:p>
            <a:pPr fontAlgn="base"/>
            <a:r>
              <a:rPr lang="en-US" b="1" dirty="0"/>
              <a:t>I used:</a:t>
            </a:r>
            <a:br>
              <a:rPr lang="en-US" dirty="0"/>
            </a:br>
            <a:r>
              <a:rPr lang="en-US" b="1" dirty="0"/>
              <a:t>IBM Watsonx.ai </a:t>
            </a:r>
            <a:r>
              <a:rPr lang="en-US" b="1" dirty="0" err="1"/>
              <a:t>AutoAI</a:t>
            </a:r>
            <a:r>
              <a:rPr lang="en-US" b="1" dirty="0"/>
              <a:t> + IBM Cloud + Python + Scikit-learn + </a:t>
            </a:r>
            <a:r>
              <a:rPr lang="en-US" b="1" dirty="0" err="1"/>
              <a:t>XGBoost</a:t>
            </a:r>
            <a:r>
              <a:rPr lang="en-US" b="1" dirty="0"/>
              <a:t> + </a:t>
            </a:r>
            <a:r>
              <a:rPr lang="en-US" b="1" dirty="0" err="1"/>
              <a:t>LightGBM</a:t>
            </a:r>
            <a:r>
              <a:rPr lang="en-US" b="1" dirty="0"/>
              <a:t> + Snap ML</a:t>
            </a:r>
          </a:p>
          <a:p>
            <a:pPr fontAlgn="base"/>
            <a:endParaRPr lang="en-US" b="1" dirty="0"/>
          </a:p>
          <a:p>
            <a:r>
              <a:rPr lang="en-US" b="1" dirty="0"/>
              <a:t>Description : </a:t>
            </a:r>
          </a:p>
          <a:p>
            <a:endParaRPr lang="en-US" b="1" dirty="0"/>
          </a:p>
          <a:p>
            <a:r>
              <a:rPr lang="en-US" dirty="0"/>
              <a:t>This project uses </a:t>
            </a:r>
            <a:r>
              <a:rPr lang="en-US" b="1" dirty="0"/>
              <a:t>IBM Watsonx.ai </a:t>
            </a:r>
            <a:r>
              <a:rPr lang="en-US" b="1" dirty="0" err="1"/>
              <a:t>AutoAI</a:t>
            </a:r>
            <a:r>
              <a:rPr lang="en-US" dirty="0"/>
              <a:t> on </a:t>
            </a:r>
            <a:r>
              <a:rPr lang="en-US" b="1" dirty="0"/>
              <a:t>IBM Cloud</a:t>
            </a:r>
            <a:r>
              <a:rPr lang="en-US" dirty="0"/>
              <a:t> to automatically build, train, and optimize machine learning models for predictive maintenance. The dataset is processed using Python, and </a:t>
            </a:r>
            <a:r>
              <a:rPr lang="en-US" dirty="0" err="1"/>
              <a:t>AutoAI</a:t>
            </a:r>
            <a:r>
              <a:rPr lang="en-US" dirty="0"/>
              <a:t> evaluates multiple algorithms such as </a:t>
            </a:r>
            <a:r>
              <a:rPr lang="en-US" dirty="0" err="1"/>
              <a:t>XGBoost</a:t>
            </a:r>
            <a:r>
              <a:rPr lang="en-US" dirty="0"/>
              <a:t>, </a:t>
            </a:r>
            <a:r>
              <a:rPr lang="en-US" dirty="0" err="1"/>
              <a:t>LightGBM</a:t>
            </a:r>
            <a:r>
              <a:rPr lang="en-US" dirty="0"/>
              <a:t>, Random Forest, and Snap ML to select the best-performing model. The final model is deployed as a web service on IBM Cloud for prediction.</a:t>
            </a:r>
          </a:p>
          <a:p>
            <a:pPr fontAlgn="base"/>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584775"/>
          </a:xfrm>
          <a:prstGeom prst="rect">
            <a:avLst/>
          </a:prstGeom>
          <a:noFill/>
        </p:spPr>
        <p:txBody>
          <a:bodyPr wrap="square" rtlCol="0">
            <a:spAutoFit/>
          </a:bodyPr>
          <a:lstStyle/>
          <a:p>
            <a:pPr algn="ctr"/>
            <a:r>
              <a:rPr lang="en-US" sz="3200" b="1" dirty="0"/>
              <a:t>                              </a:t>
            </a:r>
            <a:r>
              <a:rPr lang="en-US" sz="3200" b="1" dirty="0">
                <a:solidFill>
                  <a:srgbClr val="002060"/>
                </a:solidFill>
              </a:rPr>
              <a:t>Technology Used </a:t>
            </a:r>
            <a:endParaRPr lang="en-IN" sz="3200" b="1" dirty="0">
              <a:solidFill>
                <a:srgbClr val="002060"/>
              </a:solidFill>
            </a:endParaRPr>
          </a:p>
        </p:txBody>
      </p:sp>
      <p:pic>
        <p:nvPicPr>
          <p:cNvPr id="5" name="Picture 4">
            <a:extLst>
              <a:ext uri="{FF2B5EF4-FFF2-40B4-BE49-F238E27FC236}">
                <a16:creationId xmlns:a16="http://schemas.microsoft.com/office/drawing/2014/main" id="{FBD39134-FB21-3E30-A72F-EE6B9DB18303}"/>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4257368" y="1671483"/>
            <a:ext cx="7142152" cy="2487561"/>
          </a:xfrm>
          <a:prstGeom prst="rect">
            <a:avLst/>
          </a:prstGeom>
        </p:spPr>
      </p:pic>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1" y="1234440"/>
            <a:ext cx="10799851" cy="5693866"/>
          </a:xfrm>
          <a:prstGeom prst="rect">
            <a:avLst/>
          </a:prstGeom>
          <a:noFill/>
        </p:spPr>
        <p:txBody>
          <a:bodyPr wrap="square" rtlCol="0">
            <a:spAutoFit/>
          </a:bodyPr>
          <a:lstStyle/>
          <a:p>
            <a:pPr fontAlgn="base"/>
            <a:endParaRPr lang="en-US" b="1" dirty="0"/>
          </a:p>
          <a:p>
            <a:r>
              <a:rPr lang="en-US" b="1" dirty="0"/>
              <a:t>Proposed Solution: </a:t>
            </a:r>
            <a:r>
              <a:rPr lang="en-US" dirty="0"/>
              <a:t>AI-Powered Predictive Maintenance System.</a:t>
            </a:r>
          </a:p>
          <a:p>
            <a:endParaRPr lang="en-US" dirty="0"/>
          </a:p>
          <a:p>
            <a:r>
              <a:rPr lang="en-US" dirty="0"/>
              <a:t>The proposed solution is an intelligent machine learning-based predictive maintenance system designed to anticipate equipment failures before they occur. The system analyzes real-time and historical sensor data collected from industrial machinery, including parameters such as temperature, rotational speed, torque, tool wear, and operational conditions. </a:t>
            </a:r>
          </a:p>
          <a:p>
            <a:r>
              <a:rPr lang="en-US" dirty="0"/>
              <a:t>The solution leverages </a:t>
            </a:r>
            <a:r>
              <a:rPr lang="en-US" b="1" dirty="0"/>
              <a:t>IBM Watsonx.ai </a:t>
            </a:r>
            <a:r>
              <a:rPr lang="en-US" b="1" dirty="0" err="1"/>
              <a:t>AutoAI</a:t>
            </a:r>
            <a:r>
              <a:rPr lang="en-US" dirty="0"/>
              <a:t> to automate data preprocessing, feature engineering, model selection, and hyperparameter optimization. By identifying patterns associated with machine degradation and failures, the system can accurately predict potential breakdowns and classify different failure types.</a:t>
            </a:r>
          </a:p>
          <a:p>
            <a:endParaRPr lang="en-US" dirty="0"/>
          </a:p>
          <a:p>
            <a:pPr algn="ctr"/>
            <a:r>
              <a:rPr lang="en-US" b="1" dirty="0"/>
              <a:t>The system consists of the following key modules:</a:t>
            </a:r>
          </a:p>
          <a:p>
            <a:r>
              <a:rPr lang="en-US" b="1" dirty="0"/>
              <a:t>Data Collection Module - </a:t>
            </a:r>
            <a:br>
              <a:rPr lang="en-US" dirty="0"/>
            </a:br>
            <a:r>
              <a:rPr lang="en-US" dirty="0"/>
              <a:t>Collects machinery sensor data including temperature, rotational speed, torque, tool wear, and machine operating conditions.</a:t>
            </a:r>
          </a:p>
          <a:p>
            <a:r>
              <a:rPr lang="en-US" b="1" dirty="0"/>
              <a:t>Data Processing &amp; Feature Engineering Module - </a:t>
            </a:r>
            <a:br>
              <a:rPr lang="en-US" dirty="0"/>
            </a:br>
            <a:r>
              <a:rPr lang="en-US" dirty="0"/>
              <a:t>Cleans and preprocesses the collected data, handles missing values, and transforms features into a suitable format for model training.</a:t>
            </a:r>
          </a:p>
          <a:p>
            <a:r>
              <a:rPr lang="en-US" b="1" dirty="0"/>
              <a:t>Machine Learning Prediction Module - </a:t>
            </a:r>
            <a:br>
              <a:rPr lang="en-US" dirty="0"/>
            </a:br>
            <a:r>
              <a:rPr lang="en-US" dirty="0"/>
              <a:t>Uses IBM Watsonx.ai </a:t>
            </a:r>
            <a:r>
              <a:rPr lang="en-US" dirty="0" err="1"/>
              <a:t>AutoAI</a:t>
            </a:r>
            <a:r>
              <a:rPr lang="en-US" dirty="0"/>
              <a:t> to train and optimize multiple machine learning models. The best-performing model is selected automatically for failure prediction.</a:t>
            </a:r>
          </a:p>
          <a:p>
            <a:r>
              <a:rPr lang="en-US" b="1" dirty="0"/>
              <a:t>Failure Classification Module - </a:t>
            </a:r>
            <a:br>
              <a:rPr lang="en-US" dirty="0"/>
            </a:br>
            <a:r>
              <a:rPr lang="en-US" dirty="0"/>
              <a:t>Predicts different types of machine failures such as:</a:t>
            </a:r>
          </a:p>
          <a:p>
            <a:r>
              <a:rPr lang="en-US" dirty="0"/>
              <a:t>Heat Dissipation Failure </a:t>
            </a:r>
          </a:p>
          <a:p>
            <a:r>
              <a:rPr lang="en-US" dirty="0"/>
              <a:t>Power Failure </a:t>
            </a:r>
          </a:p>
          <a:p>
            <a:r>
              <a:rPr lang="en-US" dirty="0"/>
              <a:t>Overstrain Failure </a:t>
            </a:r>
          </a:p>
          <a:p>
            <a:r>
              <a:rPr lang="en-US" dirty="0"/>
              <a:t>Tool Wear Failure </a:t>
            </a:r>
          </a:p>
          <a:p>
            <a:r>
              <a:rPr lang="en-US" dirty="0"/>
              <a:t>Random Failure</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10799850" cy="461665"/>
          </a:xfrm>
          <a:prstGeom prst="rect">
            <a:avLst/>
          </a:prstGeom>
          <a:noFill/>
        </p:spPr>
        <p:txBody>
          <a:bodyPr wrap="square" rtlCol="0">
            <a:spAutoFit/>
          </a:bodyPr>
          <a:lstStyle/>
          <a:p>
            <a:pPr algn="ctr"/>
            <a:r>
              <a:rPr lang="en-US" sz="2400" b="1" dirty="0">
                <a:solidFill>
                  <a:schemeClr val="accent2">
                    <a:lumMod val="60000"/>
                    <a:lumOff val="40000"/>
                  </a:schemeClr>
                </a:solidFill>
              </a:rPr>
              <a:t>Proposed Solution -</a:t>
            </a:r>
            <a:endParaRPr lang="en-IN" sz="2400" b="1" dirty="0">
              <a:solidFill>
                <a:schemeClr val="accent2">
                  <a:lumMod val="60000"/>
                  <a:lumOff val="40000"/>
                </a:schemeClr>
              </a:solidFill>
            </a:endParaRPr>
          </a:p>
        </p:txBody>
      </p:sp>
      <p:pic>
        <p:nvPicPr>
          <p:cNvPr id="5" name="Picture 4">
            <a:extLst>
              <a:ext uri="{FF2B5EF4-FFF2-40B4-BE49-F238E27FC236}">
                <a16:creationId xmlns:a16="http://schemas.microsoft.com/office/drawing/2014/main" id="{7AA8E7B7-E6A0-8D73-E248-A8DB7297B842}"/>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678994" y="325320"/>
            <a:ext cx="3696928" cy="1219200"/>
          </a:xfrm>
          <a:prstGeom prst="rect">
            <a:avLst/>
          </a:prstGeom>
          <a:ln>
            <a:noFill/>
          </a:ln>
          <a:effectLst>
            <a:softEdge rad="112500"/>
          </a:effectLst>
        </p:spPr>
      </p:pic>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10938607" cy="63049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51D3A"/>
              </a:buClr>
              <a:buSzPts val="3500"/>
              <a:buFont typeface="Times New Roman"/>
              <a:buNone/>
            </a:pPr>
            <a:r>
              <a:rPr lang="en-US" sz="4000" b="1" dirty="0">
                <a:solidFill>
                  <a:schemeClr val="accent3">
                    <a:lumMod val="75000"/>
                  </a:schemeClr>
                </a:solidFill>
                <a:sym typeface="Times New Roman"/>
              </a:rPr>
              <a:t>Component</a:t>
            </a:r>
            <a:r>
              <a:rPr lang="en-US" sz="2400" b="1" dirty="0">
                <a:solidFill>
                  <a:schemeClr val="accent3">
                    <a:lumMod val="75000"/>
                  </a:schemeClr>
                </a:solidFill>
                <a:sym typeface="Times New Roman"/>
              </a:rPr>
              <a:t> </a:t>
            </a:r>
            <a:r>
              <a:rPr lang="en-US" sz="4000" b="1" dirty="0">
                <a:solidFill>
                  <a:schemeClr val="accent3">
                    <a:lumMod val="75000"/>
                  </a:schemeClr>
                </a:solidFill>
                <a:sym typeface="Times New Roman"/>
              </a:rPr>
              <a:t>Used -</a:t>
            </a:r>
            <a:endParaRPr sz="4000" b="1" dirty="0">
              <a:solidFill>
                <a:schemeClr val="accent3">
                  <a:lumMod val="75000"/>
                </a:schemeClr>
              </a:solidFill>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1" y="863187"/>
            <a:ext cx="11001375" cy="7048083"/>
          </a:xfrm>
          <a:prstGeom prst="rect">
            <a:avLst/>
          </a:prstGeom>
          <a:noFill/>
        </p:spPr>
        <p:txBody>
          <a:bodyPr wrap="square" rtlCol="0">
            <a:spAutoFit/>
          </a:bodyPr>
          <a:lstStyle/>
          <a:p>
            <a:r>
              <a:rPr lang="en-US" sz="1600" b="1" dirty="0"/>
              <a:t>1) Dataset Input Component</a:t>
            </a:r>
            <a:br>
              <a:rPr lang="en-US" sz="1600" dirty="0"/>
            </a:br>
            <a:r>
              <a:rPr lang="en-US" sz="1600" dirty="0"/>
              <a:t>Loads historical and real-time sensor data from industrial machines, including temperature, rotational speed, torque, and tool wear.</a:t>
            </a:r>
          </a:p>
          <a:p>
            <a:pPr marL="342900" indent="-342900">
              <a:buAutoNum type="arabicParenR"/>
            </a:pPr>
            <a:endParaRPr lang="en-US" sz="1600" dirty="0"/>
          </a:p>
          <a:p>
            <a:r>
              <a:rPr lang="en-US" sz="1600" b="1" dirty="0"/>
              <a:t>2) Data Preprocessing Component</a:t>
            </a:r>
            <a:br>
              <a:rPr lang="en-US" sz="1600" dirty="0"/>
            </a:br>
            <a:r>
              <a:rPr lang="en-US" sz="1600" dirty="0"/>
              <a:t>Cleans the dataset, handles missing values, removes inconsistencies, and prepares data for machine learning.</a:t>
            </a:r>
          </a:p>
          <a:p>
            <a:endParaRPr lang="en-US" sz="1600" dirty="0"/>
          </a:p>
          <a:p>
            <a:r>
              <a:rPr lang="en-US" sz="1600" b="1" dirty="0"/>
              <a:t>3) Feature Engineering Component</a:t>
            </a:r>
            <a:br>
              <a:rPr lang="en-US" sz="1600" dirty="0"/>
            </a:br>
            <a:r>
              <a:rPr lang="en-US" sz="1600" dirty="0"/>
              <a:t>Extracts and transforms important features from sensor data to improve prediction accuracy.</a:t>
            </a:r>
          </a:p>
          <a:p>
            <a:endParaRPr lang="en-US" sz="1600" b="1" dirty="0"/>
          </a:p>
          <a:p>
            <a:r>
              <a:rPr lang="en-US" sz="1600" b="1" dirty="0"/>
              <a:t>4) Machine Learning Model Component</a:t>
            </a:r>
            <a:br>
              <a:rPr lang="en-US" sz="1600" dirty="0"/>
            </a:br>
            <a:r>
              <a:rPr lang="en-US" sz="1600" dirty="0"/>
              <a:t>Trains and evaluates predictive models to identify potential machine failures before they occur.</a:t>
            </a:r>
          </a:p>
          <a:p>
            <a:endParaRPr lang="en-US" sz="1600" b="1" dirty="0"/>
          </a:p>
          <a:p>
            <a:r>
              <a:rPr lang="en-US" sz="1600" b="1" dirty="0"/>
              <a:t>5) Failure Prediction Component</a:t>
            </a:r>
            <a:br>
              <a:rPr lang="en-US" sz="1600" dirty="0"/>
            </a:br>
            <a:r>
              <a:rPr lang="en-US" sz="1600" dirty="0"/>
              <a:t>Predicts whether a machine is likely to fail and classifies the type of failure.</a:t>
            </a:r>
          </a:p>
          <a:p>
            <a:endParaRPr lang="en-US" sz="1600" b="1" dirty="0"/>
          </a:p>
          <a:p>
            <a:r>
              <a:rPr lang="en-US" sz="1600" b="1" dirty="0"/>
              <a:t>6) Maintenance Alert Component</a:t>
            </a:r>
            <a:br>
              <a:rPr lang="en-US" sz="1600" dirty="0"/>
            </a:br>
            <a:r>
              <a:rPr lang="en-US" sz="1600" dirty="0"/>
              <a:t>Generates early warning alerts and maintenance recommendations to reduce downtime and prevent unexpected breakdowns.</a:t>
            </a:r>
          </a:p>
          <a:p>
            <a:endParaRPr lang="en-US" sz="1600" b="1" dirty="0"/>
          </a:p>
          <a:p>
            <a:r>
              <a:rPr lang="en-US" sz="1600" b="1" dirty="0"/>
              <a:t>7) Performance Evaluation Component</a:t>
            </a:r>
            <a:br>
              <a:rPr lang="en-US" sz="1600" dirty="0"/>
            </a:br>
            <a:r>
              <a:rPr lang="en-US" sz="1600" dirty="0"/>
              <a:t>Measures model performance using metrics such as Accuracy, Precision, Recall, and F1-Score.</a:t>
            </a:r>
          </a:p>
          <a:p>
            <a:endParaRPr lang="en-US" sz="1600"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a:blip r:embed="rId3">
            <a:alphaModFix/>
          </a:blip>
          <a:srcRect/>
          <a:stretch/>
        </p:blipFill>
        <p:spPr>
          <a:xfrm>
            <a:off x="412955" y="1150373"/>
            <a:ext cx="11267768" cy="5470817"/>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9429809" cy="630490"/>
          </a:xfrm>
          <a:prstGeom prst="rect">
            <a:avLst/>
          </a:prstGeom>
          <a:noFill/>
          <a:ln>
            <a:noFill/>
          </a:ln>
        </p:spPr>
        <p:txBody>
          <a:bodyPr spcFirstLastPara="1" wrap="square" lIns="0" tIns="0" rIns="0" bIns="0" anchor="t" anchorCtr="0">
            <a:noAutofit/>
          </a:bodyPr>
          <a:lstStyle/>
          <a:p>
            <a:pPr lvl="0" algn="ctr"/>
            <a:r>
              <a:rPr lang="en-US" sz="4000" b="1" dirty="0">
                <a:solidFill>
                  <a:schemeClr val="accent6">
                    <a:lumMod val="60000"/>
                    <a:lumOff val="40000"/>
                  </a:schemeClr>
                </a:solidFill>
                <a:latin typeface="Calibri"/>
                <a:ea typeface="Calibri"/>
                <a:cs typeface="Calibri"/>
                <a:sym typeface="Calibri"/>
              </a:rPr>
              <a:t>Machine Learning Workflow : </a:t>
            </a:r>
            <a:endParaRPr lang="en-US" sz="4000" dirty="0">
              <a:solidFill>
                <a:schemeClr val="accent6">
                  <a:lumMod val="60000"/>
                  <a:lumOff val="4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a:blip r:embed="rId3">
            <a:alphaModFix/>
            <a:extLst>
              <a:ext uri="{837473B0-CC2E-450A-ABE3-18F120FF3D39}">
                <a1611:picAttrSrcUrl xmlns:a1611="http://schemas.microsoft.com/office/drawing/2016/11/main" r:id="rId4"/>
              </a:ext>
            </a:extLst>
          </a:blip>
          <a:srcRect/>
          <a:stretch/>
        </p:blipFill>
        <p:spPr>
          <a:xfrm>
            <a:off x="8529301" y="1167493"/>
            <a:ext cx="3289073" cy="5446372"/>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1437132" y="244135"/>
            <a:ext cx="9317736" cy="584775"/>
          </a:xfrm>
          <a:prstGeom prst="rect">
            <a:avLst/>
          </a:prstGeom>
          <a:noFill/>
        </p:spPr>
        <p:txBody>
          <a:bodyPr wrap="square" rtlCol="0">
            <a:spAutoFit/>
          </a:bodyPr>
          <a:lstStyle/>
          <a:p>
            <a:r>
              <a:rPr lang="en-US" sz="3200" b="1" dirty="0">
                <a:solidFill>
                  <a:schemeClr val="accent2">
                    <a:lumMod val="60000"/>
                    <a:lumOff val="40000"/>
                  </a:schemeClr>
                </a:solidFill>
              </a:rPr>
              <a:t>Role of Agentic AI in Predictive Maintenance :</a:t>
            </a:r>
            <a:endParaRPr lang="en-IN" sz="3200" b="1" dirty="0">
              <a:solidFill>
                <a:schemeClr val="accent2">
                  <a:lumMod val="60000"/>
                  <a:lumOff val="40000"/>
                </a:schemeClr>
              </a:solidFill>
            </a:endParaRPr>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478423"/>
          </a:xfrm>
          <a:prstGeom prst="rect">
            <a:avLst/>
          </a:prstGeom>
          <a:noFill/>
        </p:spPr>
        <p:txBody>
          <a:bodyPr wrap="square" rtlCol="0">
            <a:spAutoFit/>
          </a:bodyPr>
          <a:lstStyle/>
          <a:p>
            <a:r>
              <a:rPr lang="en-US" b="1" dirty="0"/>
              <a:t>Agentic AI as the Intelligent Core:</a:t>
            </a:r>
            <a:br>
              <a:rPr lang="en-US" dirty="0"/>
            </a:br>
            <a:r>
              <a:rPr lang="en-US" dirty="0"/>
              <a:t>Agentic AI acts as the central intelligence of the Predictive Maintenance System, enabling autonomous monitoring and analysis of industrial machinery. It continuously processes sensor data to assess machine health and detect abnormal operating conditions.</a:t>
            </a:r>
          </a:p>
          <a:p>
            <a:endParaRPr lang="en-US" dirty="0"/>
          </a:p>
          <a:p>
            <a:r>
              <a:rPr lang="en-US" b="1" dirty="0"/>
              <a:t>Real-Time Data Analysis:</a:t>
            </a:r>
            <a:br>
              <a:rPr lang="en-US" dirty="0"/>
            </a:br>
            <a:r>
              <a:rPr lang="en-US" dirty="0"/>
              <a:t>The system analyzes critical machine parameters such as </a:t>
            </a:r>
            <a:r>
              <a:rPr lang="en-US" b="1" dirty="0"/>
              <a:t>temperature, rotational speed, torque, pressure, and tool wear</a:t>
            </a:r>
            <a:r>
              <a:rPr lang="en-US" dirty="0"/>
              <a:t>. By identifying hidden patterns and trends, it can recognize early signs of equipment degradation and potential failures.</a:t>
            </a:r>
          </a:p>
          <a:p>
            <a:endParaRPr lang="en-US" dirty="0"/>
          </a:p>
          <a:p>
            <a:r>
              <a:rPr lang="en-US" b="1" dirty="0"/>
              <a:t>Automated Prediction and Decision-Making:</a:t>
            </a:r>
            <a:br>
              <a:rPr lang="en-US" dirty="0"/>
            </a:br>
            <a:r>
              <a:rPr lang="en-US" dirty="0"/>
              <a:t>Using </a:t>
            </a:r>
            <a:r>
              <a:rPr lang="en-US" b="1" dirty="0"/>
              <a:t>IBM watsonx.ai </a:t>
            </a:r>
            <a:r>
              <a:rPr lang="en-US" b="1" dirty="0" err="1"/>
              <a:t>AutoAI</a:t>
            </a:r>
            <a:r>
              <a:rPr lang="en-US" dirty="0"/>
              <a:t>, the AI agent automatically performs data preprocessing, feature engineering, model selection, and optimization. This allows the system to generate accurate predictions and classify different types of machine failures.</a:t>
            </a:r>
          </a:p>
          <a:p>
            <a:endParaRPr lang="en-US" dirty="0"/>
          </a:p>
          <a:p>
            <a:r>
              <a:rPr lang="en-US" b="1" dirty="0"/>
              <a:t>Proactive Maintenance and Alerts:</a:t>
            </a:r>
            <a:br>
              <a:rPr lang="en-US" dirty="0"/>
            </a:br>
            <a:r>
              <a:rPr lang="en-US" dirty="0"/>
              <a:t>The AI agent provides real-time alerts and maintenance recommendations whenever a high risk of failure is detected. This enables maintenance teams to take preventive actions before a breakdown occurs, reducing unexpected downtime.</a:t>
            </a:r>
          </a:p>
          <a:p>
            <a:endParaRPr lang="en-US" dirty="0"/>
          </a:p>
          <a:p>
            <a:r>
              <a:rPr lang="en-US" b="1" dirty="0"/>
              <a:t>Business Impact and Benefits:</a:t>
            </a:r>
            <a:br>
              <a:rPr lang="en-US" dirty="0"/>
            </a:br>
            <a:r>
              <a:rPr lang="en-US" dirty="0"/>
              <a:t>By transforming traditional reactive maintenance into a proactive strategy, Agentic AI helps reduce maintenance costs, improve operational efficiency, increase equipment reliability, and extend the lifespan of industrial machinery. Overall, it enables smarter, data-driven decision-making for industrial operations.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1898117" y="101174"/>
            <a:ext cx="7123176" cy="461665"/>
          </a:xfrm>
          <a:prstGeom prst="rect">
            <a:avLst/>
          </a:prstGeom>
          <a:noFill/>
        </p:spPr>
        <p:txBody>
          <a:bodyPr wrap="square" rtlCol="0">
            <a:spAutoFit/>
          </a:bodyPr>
          <a:lstStyle/>
          <a:p>
            <a:pPr algn="ctr"/>
            <a:r>
              <a:rPr lang="en-US" sz="2400" b="1" dirty="0">
                <a:solidFill>
                  <a:schemeClr val="tx1">
                    <a:lumMod val="50000"/>
                    <a:lumOff val="50000"/>
                  </a:schemeClr>
                </a:solidFill>
              </a:rPr>
              <a:t>Technologies Used: </a:t>
            </a:r>
            <a:endParaRPr lang="en-IN" sz="2400" b="1" dirty="0">
              <a:solidFill>
                <a:schemeClr val="tx1">
                  <a:lumMod val="50000"/>
                  <a:lumOff val="50000"/>
                </a:schemeClr>
              </a:solidFill>
            </a:endParaRPr>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562839"/>
            <a:ext cx="10579018" cy="6771084"/>
          </a:xfrm>
          <a:prstGeom prst="rect">
            <a:avLst/>
          </a:prstGeom>
          <a:noFill/>
        </p:spPr>
        <p:txBody>
          <a:bodyPr wrap="square" rtlCol="0">
            <a:spAutoFit/>
          </a:bodyPr>
          <a:lstStyle/>
          <a:p>
            <a:r>
              <a:rPr lang="en-US" b="1" dirty="0"/>
              <a:t>1. IBM watsonx.ai </a:t>
            </a:r>
            <a:r>
              <a:rPr lang="en-US" b="1" dirty="0" err="1"/>
              <a:t>AutoAI</a:t>
            </a:r>
            <a:r>
              <a:rPr lang="en-US" b="1" dirty="0"/>
              <a:t> -</a:t>
            </a:r>
          </a:p>
          <a:p>
            <a:r>
              <a:rPr lang="en-US" dirty="0"/>
              <a:t>IBM watsonx.ai </a:t>
            </a:r>
            <a:r>
              <a:rPr lang="en-US" dirty="0" err="1"/>
              <a:t>AutoAI</a:t>
            </a:r>
            <a:r>
              <a:rPr lang="en-US" dirty="0"/>
              <a:t> is used to automatically preprocess data, engineer features, select the best machine learning algorithms, and optimize model performance. It accelerates the development of accurate predictive maintenance models without requiring extensive manual tuning.</a:t>
            </a:r>
          </a:p>
          <a:p>
            <a:endParaRPr lang="en-IN" dirty="0"/>
          </a:p>
          <a:p>
            <a:r>
              <a:rPr lang="en-US" b="1" dirty="0"/>
              <a:t>2. IBM Cloud -</a:t>
            </a:r>
          </a:p>
          <a:p>
            <a:r>
              <a:rPr lang="en-US" dirty="0"/>
              <a:t>IBM Cloud provides a secure and scalable environment for storing data, training machine learning models, and deploying prediction services. It enables reliable access to predictive maintenance solutions from anywhere.</a:t>
            </a:r>
          </a:p>
          <a:p>
            <a:endParaRPr lang="en-IN" dirty="0"/>
          </a:p>
          <a:p>
            <a:r>
              <a:rPr lang="en-US" b="1" dirty="0"/>
              <a:t>3. Python -</a:t>
            </a:r>
          </a:p>
          <a:p>
            <a:r>
              <a:rPr lang="en-US" dirty="0"/>
              <a:t>Python is used for data manipulation, preprocessing, exploratory data analysis, and integrating machine learning workflows. Its extensive libraries make it ideal for predictive maintenance applications.</a:t>
            </a:r>
            <a:br>
              <a:rPr lang="en-US" dirty="0"/>
            </a:br>
            <a:endParaRPr lang="en-US" dirty="0"/>
          </a:p>
          <a:p>
            <a:r>
              <a:rPr lang="en-US" b="1" dirty="0"/>
              <a:t>4. Machine Learning Algorithms -</a:t>
            </a:r>
          </a:p>
          <a:p>
            <a:r>
              <a:rPr lang="en-US" dirty="0"/>
              <a:t>Algorithms such as </a:t>
            </a:r>
            <a:r>
              <a:rPr lang="en-US" b="1" dirty="0" err="1"/>
              <a:t>XGBoost</a:t>
            </a:r>
            <a:r>
              <a:rPr lang="en-US" b="1" dirty="0"/>
              <a:t>, </a:t>
            </a:r>
            <a:r>
              <a:rPr lang="en-US" b="1" dirty="0" err="1"/>
              <a:t>LightGBM</a:t>
            </a:r>
            <a:r>
              <a:rPr lang="en-US" b="1" dirty="0"/>
              <a:t>, Random Forest, and Snap ML</a:t>
            </a:r>
            <a:r>
              <a:rPr lang="en-US" dirty="0"/>
              <a:t> are utilized by </a:t>
            </a:r>
            <a:r>
              <a:rPr lang="en-US" dirty="0" err="1"/>
              <a:t>AutoAI</a:t>
            </a:r>
            <a:r>
              <a:rPr lang="en-US" dirty="0"/>
              <a:t> to identify patterns in sensor data and predict machine failures before they occur.</a:t>
            </a:r>
          </a:p>
          <a:p>
            <a:endParaRPr lang="en-US" dirty="0"/>
          </a:p>
          <a:p>
            <a:r>
              <a:rPr lang="en-US" b="1" dirty="0"/>
              <a:t>5. Industrial Sensor Data - </a:t>
            </a:r>
          </a:p>
          <a:p>
            <a:r>
              <a:rPr lang="en-US" dirty="0"/>
              <a:t>The system uses machinery sensor data including </a:t>
            </a:r>
            <a:r>
              <a:rPr lang="en-US" b="1" dirty="0"/>
              <a:t>temperature, rotational speed, torque, pressure, and tool wear</a:t>
            </a:r>
            <a:r>
              <a:rPr lang="en-US" dirty="0"/>
              <a:t> to evaluate equipment health and detect potential failures.</a:t>
            </a:r>
          </a:p>
          <a:p>
            <a:endParaRPr lang="en-US" dirty="0"/>
          </a:p>
          <a:p>
            <a:r>
              <a:rPr lang="en-US" b="1" dirty="0"/>
              <a:t>6. </a:t>
            </a:r>
            <a:r>
              <a:rPr lang="en-US" b="1" dirty="0" err="1"/>
              <a:t>Jupyter</a:t>
            </a:r>
            <a:r>
              <a:rPr lang="en-US" b="1" dirty="0"/>
              <a:t> Notebook - </a:t>
            </a:r>
          </a:p>
          <a:p>
            <a:r>
              <a:rPr lang="en-US" dirty="0" err="1"/>
              <a:t>Jupyter</a:t>
            </a:r>
            <a:r>
              <a:rPr lang="en-US" dirty="0"/>
              <a:t> Notebook is used for data analysis, model training, visualization, and testing. It provides an interactive environment for developing and evaluating predictive maintenance solutions.</a:t>
            </a:r>
          </a:p>
          <a:p>
            <a:endParaRPr lang="en-US" dirty="0"/>
          </a:p>
          <a:p>
            <a:r>
              <a:rPr lang="en-US" b="1" dirty="0"/>
              <a:t>7. Predictive Maintenance Model -</a:t>
            </a:r>
          </a:p>
          <a:p>
            <a:r>
              <a:rPr lang="en-US" dirty="0"/>
              <a:t>The trained predictive model continuously evaluates machine conditions, classifies failure types, and generates early maintenance alerts, reducing downtime and improving operational efficiency.</a:t>
            </a:r>
          </a:p>
          <a:p>
            <a:endParaRPr lang="en-US"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307651"/>
            <a:ext cx="10864155" cy="584775"/>
          </a:xfrm>
          <a:prstGeom prst="rect">
            <a:avLst/>
          </a:prstGeom>
          <a:noFill/>
        </p:spPr>
        <p:txBody>
          <a:bodyPr wrap="square" rtlCol="0">
            <a:spAutoFit/>
          </a:bodyPr>
          <a:lstStyle/>
          <a:p>
            <a:pPr algn="ctr"/>
            <a:r>
              <a:rPr lang="en-US" sz="3200" b="1" dirty="0">
                <a:solidFill>
                  <a:srgbClr val="0070C0"/>
                </a:solidFill>
              </a:rPr>
              <a:t>Novelty and Uniqueness</a:t>
            </a:r>
            <a:endParaRPr lang="en-IN" sz="3200" b="1" dirty="0">
              <a:solidFill>
                <a:srgbClr val="0070C0"/>
              </a:solidFill>
            </a:endParaRPr>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963561"/>
            <a:ext cx="11286941" cy="5909310"/>
          </a:xfrm>
          <a:prstGeom prst="rect">
            <a:avLst/>
          </a:prstGeom>
          <a:noFill/>
        </p:spPr>
        <p:txBody>
          <a:bodyPr wrap="square" rtlCol="0">
            <a:spAutoFit/>
          </a:bodyPr>
          <a:lstStyle/>
          <a:p>
            <a:r>
              <a:rPr lang="en-US" b="1" dirty="0"/>
              <a:t>Novelty : </a:t>
            </a:r>
          </a:p>
          <a:p>
            <a:r>
              <a:rPr lang="en-US" b="1" dirty="0"/>
              <a:t>AI-Driven Predictive Maintenance:</a:t>
            </a:r>
            <a:br>
              <a:rPr lang="en-US" dirty="0"/>
            </a:br>
            <a:r>
              <a:rPr lang="en-US" dirty="0"/>
              <a:t>Unlike traditional maintenance approaches that rely on fixed schedules or manual inspections, this solution uses machine learning to predict failures before they occur, enabling proactive maintenance.</a:t>
            </a:r>
          </a:p>
          <a:p>
            <a:r>
              <a:rPr lang="en-US" b="1" dirty="0"/>
              <a:t>Automated Model Development with </a:t>
            </a:r>
            <a:r>
              <a:rPr lang="en-US" b="1" dirty="0" err="1"/>
              <a:t>AutoAI</a:t>
            </a:r>
            <a:r>
              <a:rPr lang="en-US" b="1" dirty="0"/>
              <a:t>:</a:t>
            </a:r>
            <a:br>
              <a:rPr lang="en-US" dirty="0"/>
            </a:br>
            <a:r>
              <a:rPr lang="en-US" dirty="0"/>
              <a:t>The system leverages </a:t>
            </a:r>
            <a:r>
              <a:rPr lang="en-US" b="1" dirty="0"/>
              <a:t>IBM watsonx.ai </a:t>
            </a:r>
            <a:r>
              <a:rPr lang="en-US" b="1" dirty="0" err="1"/>
              <a:t>AutoAI</a:t>
            </a:r>
            <a:r>
              <a:rPr lang="en-US" dirty="0"/>
              <a:t> to automatically perform data preprocessing, feature engineering, model selection, and hyperparameter optimization, significantly reducing development time and improving prediction accuracy.</a:t>
            </a:r>
          </a:p>
          <a:p>
            <a:r>
              <a:rPr lang="en-US" b="1" dirty="0"/>
              <a:t>Failure Type Classification:</a:t>
            </a:r>
            <a:br>
              <a:rPr lang="en-US" dirty="0"/>
            </a:br>
            <a:r>
              <a:rPr lang="en-US" dirty="0"/>
              <a:t>The solution not only predicts whether a machine is likely to fail but also identifies the specific type of failure, helping maintenance teams take targeted corrective actions.</a:t>
            </a:r>
          </a:p>
          <a:p>
            <a:endParaRPr lang="en-IN" dirty="0"/>
          </a:p>
          <a:p>
            <a:r>
              <a:rPr lang="en-US" b="1" dirty="0"/>
              <a:t>Uniqueness :</a:t>
            </a:r>
          </a:p>
          <a:p>
            <a:r>
              <a:rPr lang="en-US" b="1" dirty="0"/>
              <a:t>Real-Time Equipment Health Monitoring:</a:t>
            </a:r>
            <a:br>
              <a:rPr lang="en-US" dirty="0"/>
            </a:br>
            <a:r>
              <a:rPr lang="en-US" dirty="0"/>
              <a:t>The system continuously analyzes sensor data such as temperature, rotational speed, torque, and tool wear to provide real-time insights into machine conditions.</a:t>
            </a:r>
          </a:p>
          <a:p>
            <a:r>
              <a:rPr lang="en-US" b="1" dirty="0"/>
              <a:t>Early Warning and Maintenance Alerts:</a:t>
            </a:r>
            <a:br>
              <a:rPr lang="en-US" dirty="0"/>
            </a:br>
            <a:r>
              <a:rPr lang="en-US" dirty="0"/>
              <a:t>It generates intelligent alerts before a failure occurs, reducing unexpected downtime and preventing costly production interruptions.</a:t>
            </a:r>
          </a:p>
          <a:p>
            <a:r>
              <a:rPr lang="en-US" b="1" dirty="0"/>
              <a:t>Data-Driven Maintenance Decisions:</a:t>
            </a:r>
            <a:br>
              <a:rPr lang="en-US" dirty="0"/>
            </a:br>
            <a:r>
              <a:rPr lang="en-US" dirty="0"/>
              <a:t>Instead of relying on reactive maintenance strategies, the solution enables industries to make informed maintenance decisions based on predictive analytics and machine health trends.</a:t>
            </a:r>
          </a:p>
          <a:p>
            <a:r>
              <a:rPr lang="en-US" b="1" dirty="0"/>
              <a:t>Scalable and Industry-Oriented Solution:</a:t>
            </a:r>
            <a:br>
              <a:rPr lang="en-US" dirty="0"/>
            </a:br>
            <a:r>
              <a:rPr lang="en-US" dirty="0"/>
              <a:t>The framework can be applied across various industrial sectors, making it adaptable to different machinery types and operational environments.</a:t>
            </a:r>
          </a:p>
          <a:p>
            <a:r>
              <a:rPr lang="en-US" b="1" dirty="0"/>
              <a:t>Cost Reduction and Increased Reliability:</a:t>
            </a:r>
            <a:br>
              <a:rPr lang="en-US" dirty="0"/>
            </a:br>
            <a:r>
              <a:rPr lang="en-US" dirty="0"/>
              <a:t>By preventing unexpected breakdowns and optimizing maintenance schedules, the solution helps reduce maintenance costs, improve productivity, and extend equipment lifespan.</a:t>
            </a:r>
            <a:endParaRPr lang="en-IN"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589935" y="420729"/>
            <a:ext cx="10805651" cy="704017"/>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2400" b="1" dirty="0">
                <a:solidFill>
                  <a:srgbClr val="0070C0"/>
                </a:solidFill>
                <a:sym typeface="Times New Roman"/>
              </a:rPr>
              <a:t>Git Hub Link :</a:t>
            </a:r>
            <a:endParaRPr sz="2400" b="1" dirty="0">
              <a:solidFill>
                <a:srgbClr val="0070C0"/>
              </a:solidFill>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435510" y="1153713"/>
            <a:ext cx="8997794" cy="2206504"/>
          </a:xfrm>
          <a:prstGeom prst="rect">
            <a:avLst/>
          </a:prstGeom>
          <a:noFill/>
          <a:ln>
            <a:noFill/>
          </a:ln>
        </p:spPr>
        <p:txBody>
          <a:bodyPr spcFirstLastPara="1" wrap="square" lIns="0" tIns="0" rIns="0" bIns="0" anchor="t" anchorCtr="0">
            <a:noAutofit/>
          </a:bodyPr>
          <a:lstStyle/>
          <a:p>
            <a:pPr lvl="0" algn="ctr">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gn="ctr">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gn="ctr">
              <a:lnSpc>
                <a:spcPct val="162162"/>
              </a:lnSpc>
              <a:buClr>
                <a:srgbClr val="2B3541"/>
              </a:buClr>
              <a:buSzPts val="1850"/>
            </a:pPr>
            <a:endParaRPr lang="en-US" sz="1850" dirty="0">
              <a:solidFill>
                <a:srgbClr val="2B3541"/>
              </a:solidFill>
              <a:latin typeface="Times New Roman"/>
              <a:ea typeface="Times New Roman"/>
              <a:cs typeface="Times New Roman"/>
              <a:sym typeface="Times New Roman"/>
            </a:endParaRPr>
          </a:p>
          <a:p>
            <a:pPr lvl="0" algn="ctr">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a:t>
            </a:r>
            <a:r>
              <a:rPr lang="en-US" sz="3200" dirty="0">
                <a:solidFill>
                  <a:schemeClr val="tx1">
                    <a:lumMod val="95000"/>
                    <a:lumOff val="5000"/>
                  </a:schemeClr>
                </a:solidFill>
                <a:latin typeface="Times New Roman"/>
                <a:ea typeface="Times New Roman"/>
                <a:cs typeface="Times New Roman"/>
                <a:sym typeface="Times New Roman"/>
              </a:rPr>
              <a:t>https://github.com/SagarSharma131006/</a:t>
            </a:r>
            <a:r>
              <a:rPr lang="en-US" sz="3200" dirty="0" err="1">
                <a:solidFill>
                  <a:schemeClr val="tx1">
                    <a:lumMod val="95000"/>
                    <a:lumOff val="5000"/>
                  </a:schemeClr>
                </a:solidFill>
                <a:latin typeface="Times New Roman"/>
                <a:ea typeface="Times New Roman"/>
                <a:cs typeface="Times New Roman"/>
                <a:sym typeface="Times New Roman"/>
              </a:rPr>
              <a:t>ML_Project</a:t>
            </a:r>
            <a:endParaRPr sz="3200" b="0" i="0" u="none" strike="noStrike" cap="none" dirty="0">
              <a:solidFill>
                <a:schemeClr val="tx1">
                  <a:lumMod val="95000"/>
                  <a:lumOff val="5000"/>
                </a:schemeClr>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C2A0B1C9-62ED-962B-5522-52B943E2E2E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1969016" y="2761654"/>
            <a:ext cx="8253968" cy="4308678"/>
          </a:xfrm>
          <a:prstGeom prst="rect">
            <a:avLst/>
          </a:prstGeom>
        </p:spPr>
      </p:pic>
      <p:sp>
        <p:nvSpPr>
          <p:cNvPr id="4" name="TextBox 3">
            <a:extLst>
              <a:ext uri="{FF2B5EF4-FFF2-40B4-BE49-F238E27FC236}">
                <a16:creationId xmlns:a16="http://schemas.microsoft.com/office/drawing/2014/main" id="{FC10A419-5BF1-BD68-D0F6-E0304D7577BF}"/>
              </a:ext>
            </a:extLst>
          </p:cNvPr>
          <p:cNvSpPr txBox="1"/>
          <p:nvPr/>
        </p:nvSpPr>
        <p:spPr>
          <a:xfrm>
            <a:off x="1969016" y="7070332"/>
            <a:ext cx="8253968" cy="230832"/>
          </a:xfrm>
          <a:prstGeom prst="rect">
            <a:avLst/>
          </a:prstGeom>
          <a:noFill/>
        </p:spPr>
        <p:txBody>
          <a:bodyPr wrap="square" rtlCol="0">
            <a:spAutoFit/>
          </a:bodyPr>
          <a:lstStyle/>
          <a:p>
            <a:r>
              <a:rPr lang="en-US" sz="900">
                <a:hlinkClick r:id="rId4" tooltip="https://freepngimg.com/png/12286-github-transparent"/>
              </a:rPr>
              <a:t>This Photo</a:t>
            </a:r>
            <a:r>
              <a:rPr lang="en-US" sz="900"/>
              <a:t> by Unknown Author is licensed under </a:t>
            </a:r>
            <a:r>
              <a:rPr lang="en-US" sz="900">
                <a:hlinkClick r:id="rId5" tooltip="https://creativecommons.org/licenses/by-nc/3.0/"/>
              </a:rPr>
              <a:t>CC BY-NC</a:t>
            </a:r>
            <a:endParaRPr lang="en-US" sz="900"/>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314633"/>
            <a:ext cx="9214580" cy="810114"/>
          </a:xfrm>
          <a:prstGeom prst="rect">
            <a:avLst/>
          </a:prstGeom>
          <a:noFill/>
          <a:ln>
            <a:noFill/>
          </a:ln>
        </p:spPr>
        <p:txBody>
          <a:bodyPr spcFirstLastPara="1" wrap="square" lIns="0" tIns="0" rIns="0" bIns="0" anchor="t" anchorCtr="0">
            <a:noAutofit/>
          </a:bodyPr>
          <a:lstStyle/>
          <a:p>
            <a:pPr marL="0" marR="0" lvl="0" indent="0" algn="ctr" rtl="0">
              <a:lnSpc>
                <a:spcPct val="157142"/>
              </a:lnSpc>
              <a:spcBef>
                <a:spcPts val="0"/>
              </a:spcBef>
              <a:spcAft>
                <a:spcPts val="0"/>
              </a:spcAft>
              <a:buClr>
                <a:srgbClr val="051D3A"/>
              </a:buClr>
              <a:buSzPts val="3500"/>
              <a:buFont typeface="Times New Roman"/>
              <a:buNone/>
            </a:pPr>
            <a:r>
              <a:rPr lang="en-US" sz="3200" b="1" dirty="0">
                <a:solidFill>
                  <a:srgbClr val="C00000"/>
                </a:solidFill>
                <a:sym typeface="Times New Roman"/>
              </a:rPr>
              <a:t>Future Scope </a:t>
            </a:r>
            <a:endParaRPr sz="3200" b="1" dirty="0">
              <a:solidFill>
                <a:srgbClr val="C00000"/>
              </a:solidFill>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677640"/>
          </a:xfrm>
          <a:prstGeom prst="rect">
            <a:avLst/>
          </a:prstGeom>
          <a:noFill/>
          <a:ln>
            <a:noFill/>
          </a:ln>
        </p:spPr>
        <p:txBody>
          <a:bodyPr spcFirstLastPara="1" wrap="square" lIns="0" tIns="0" rIns="0" bIns="0" anchor="t" anchorCtr="0">
            <a:noAutofit/>
          </a:bodyPr>
          <a:lstStyle/>
          <a:p>
            <a:r>
              <a:rPr lang="en-US" sz="2000" b="1" dirty="0"/>
              <a:t>1. Real-Time IoT-Based Monitoring</a:t>
            </a:r>
          </a:p>
          <a:p>
            <a:r>
              <a:rPr lang="en-US" sz="2000" dirty="0"/>
              <a:t>In the future, the system can be integrated with IoT-enabled sensors and connected devices to continuously collect live machine data. This will enable real-time monitoring of equipment health and instant detection of abnormal operating conditions, allowing industries to take preventive actions before failures occur.</a:t>
            </a:r>
          </a:p>
          <a:p>
            <a:r>
              <a:rPr lang="en-US" sz="2000" b="1" dirty="0"/>
              <a:t>2. Intelligent Maintenance Automation</a:t>
            </a:r>
          </a:p>
          <a:p>
            <a:r>
              <a:rPr lang="en-US" sz="2000" dirty="0"/>
              <a:t>The solution can be enhanced to automatically generate maintenance schedules, work orders, and maintenance recommendations based on predicted machine conditions. This will reduce manual intervention, improve resource utilization, and ensure timely maintenance activities.</a:t>
            </a:r>
          </a:p>
          <a:p>
            <a:r>
              <a:rPr lang="en-US" sz="2000" b="1" dirty="0"/>
              <a:t>3. Industry 4.0 and Smart Factory Integration</a:t>
            </a:r>
          </a:p>
          <a:p>
            <a:r>
              <a:rPr lang="en-US" sz="2000" dirty="0"/>
              <a:t>The predictive maintenance system can be integrated with Industry 4.0 technologies, ERP systems, and smart factory platforms. This integration will enable centralized monitoring, automated decision-making, and intelligent asset management across entire industrial facilities.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a:extLst>
              <a:ext uri="{C183D7F6-B498-43B3-948B-1728B52AA6E4}">
                <adec:decorative xmlns:adec="http://schemas.microsoft.com/office/drawing/2017/decorative" val="1"/>
              </a:ext>
            </a:extLst>
          </p:cNvPr>
          <p:cNvPicPr preferRelativeResize="0"/>
          <p:nvPr/>
        </p:nvPicPr>
        <p:blipFill>
          <a:blip r:embed="rId3">
            <a:alphaModFix/>
            <a:extLst>
              <a:ext uri="{837473B0-CC2E-450A-ABE3-18F120FF3D39}">
                <a1611:picAttrSrcUrl xmlns:a1611="http://schemas.microsoft.com/office/drawing/2016/11/main" r:id="rId4"/>
              </a:ext>
            </a:extLst>
          </a:blip>
          <a:srcRect/>
          <a:stretch/>
        </p:blipFill>
        <p:spPr>
          <a:xfrm>
            <a:off x="1278194" y="953730"/>
            <a:ext cx="9576619" cy="3323302"/>
          </a:xfrm>
          <a:prstGeom prst="rect">
            <a:avLst/>
          </a:prstGeom>
          <a:noFill/>
          <a:ln>
            <a:noFill/>
          </a:ln>
        </p:spPr>
      </p:pic>
      <p:pic>
        <p:nvPicPr>
          <p:cNvPr id="5" name="Picture 4">
            <a:extLst>
              <a:ext uri="{FF2B5EF4-FFF2-40B4-BE49-F238E27FC236}">
                <a16:creationId xmlns:a16="http://schemas.microsoft.com/office/drawing/2014/main" id="{C1B5BAEA-2F2A-5768-4ED6-34FC83BC518E}"/>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1631049" y="3399279"/>
            <a:ext cx="8929901" cy="3458721"/>
          </a:xfrm>
          <a:prstGeom prst="rect">
            <a:avLst/>
          </a:prstGeom>
        </p:spPr>
      </p:pic>
      <p:sp>
        <p:nvSpPr>
          <p:cNvPr id="6" name="TextBox 5">
            <a:extLst>
              <a:ext uri="{FF2B5EF4-FFF2-40B4-BE49-F238E27FC236}">
                <a16:creationId xmlns:a16="http://schemas.microsoft.com/office/drawing/2014/main" id="{F97911DF-7AFA-8146-96D5-0CCF90183308}"/>
              </a:ext>
            </a:extLst>
          </p:cNvPr>
          <p:cNvSpPr txBox="1"/>
          <p:nvPr/>
        </p:nvSpPr>
        <p:spPr>
          <a:xfrm>
            <a:off x="1631049" y="6858001"/>
            <a:ext cx="8929901" cy="230832"/>
          </a:xfrm>
          <a:prstGeom prst="rect">
            <a:avLst/>
          </a:prstGeom>
          <a:noFill/>
        </p:spPr>
        <p:txBody>
          <a:bodyPr wrap="square" rtlCol="0">
            <a:spAutoFit/>
          </a:bodyPr>
          <a:lstStyle/>
          <a:p>
            <a:r>
              <a:rPr lang="en-US" sz="900">
                <a:hlinkClick r:id="rId6" tooltip="https://freepngimg.com/png/85354-text-question-blog-questions-logo-any"/>
              </a:rPr>
              <a:t>This Photo</a:t>
            </a:r>
            <a:r>
              <a:rPr lang="en-US" sz="900"/>
              <a:t> by Unknown Author is licensed under </a:t>
            </a:r>
            <a:r>
              <a:rPr lang="en-US" sz="900">
                <a:hlinkClick r:id="rId7" tooltip="https://creativecommons.org/licenses/by-nc/3.0/"/>
              </a:rPr>
              <a:t>CC BY-NC</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1296</TotalTime>
  <Words>1814</Words>
  <Application>Microsoft Office PowerPoint</Application>
  <PresentationFormat>Widescreen</PresentationFormat>
  <Paragraphs>161</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sagar sharma</cp:lastModifiedBy>
  <cp:revision>23</cp:revision>
  <dcterms:created xsi:type="dcterms:W3CDTF">2025-07-08T05:06:56Z</dcterms:created>
  <dcterms:modified xsi:type="dcterms:W3CDTF">2026-05-29T11:32:50Z</dcterms:modified>
</cp:coreProperties>
</file>